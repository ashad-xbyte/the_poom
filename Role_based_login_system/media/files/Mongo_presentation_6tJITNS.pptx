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8"/>
  </p:notesMasterIdLst>
  <p:sldIdLst>
    <p:sldId id="256" r:id="rId2"/>
    <p:sldId id="398" r:id="rId3"/>
    <p:sldId id="399" r:id="rId4"/>
    <p:sldId id="277" r:id="rId5"/>
    <p:sldId id="264" r:id="rId6"/>
    <p:sldId id="402" r:id="rId7"/>
    <p:sldId id="401" r:id="rId8"/>
    <p:sldId id="403" r:id="rId9"/>
    <p:sldId id="267" r:id="rId10"/>
    <p:sldId id="266" r:id="rId11"/>
    <p:sldId id="271" r:id="rId12"/>
    <p:sldId id="272" r:id="rId13"/>
    <p:sldId id="273" r:id="rId14"/>
    <p:sldId id="274" r:id="rId15"/>
    <p:sldId id="265" r:id="rId16"/>
    <p:sldId id="33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60" autoAdjust="0"/>
    <p:restoredTop sz="95352" autoAdjust="0"/>
  </p:normalViewPr>
  <p:slideViewPr>
    <p:cSldViewPr>
      <p:cViewPr varScale="1">
        <p:scale>
          <a:sx n="85" d="100"/>
          <a:sy n="85" d="100"/>
        </p:scale>
        <p:origin x="153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A5430F92-E497-46A6-B98B-79AAD61B0CCE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C12815A9-3DA8-4F04-934A-7C798F0DEB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564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1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152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342B34-D9A3-4BD2-8414-22E7C7E3F048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pPr>
              <a:defRPr/>
            </a:pPr>
            <a:fld id="{5BDCAEAA-130F-4278-92FC-2B5D0C06583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12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C03FF1-C3CD-4345-9C1E-FA4B725D2009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AAE134-B7BE-4830-8A50-60BB59522FA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91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EEF479-4FAF-474F-9CB4-0A1392CECED4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94F43382-CA8F-45AD-ABD4-EBD517C9FC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3ECC56-92DE-463D-BC83-1A36E9F70714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>
              <a:defRPr/>
            </a:pPr>
            <a:fld id="{47188DAA-A4CE-47E2-8A2A-594BFA02CF1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473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0F879B-00D1-471E-A0AF-67F6D669C091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>
              <a:defRPr/>
            </a:pPr>
            <a:fld id="{77DB0992-2796-4559-9839-853DC5B179A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5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1F349B-606F-4E20-82BF-62EAFC7D412A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A30A4D-CBF0-4C3F-8FAB-33A91BDD3E4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11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A9052B-59FF-47C9-90CD-A687D2AC9222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40FB9C-766F-4D30-9D48-582A699B50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6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EF63-60DF-45A2-AC43-9A741D052802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E05951-5DFF-4B46-9BA9-6E7B2B166E0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00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0ED559-EF6F-43A2-B3EC-2D1A5F286BD9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308BA9D9-22C0-4824-8E81-DEBAFB6E68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36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D7B0BB-F8D5-4164-9719-3172B64DCF83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7D81A02D-0097-4A1A-92B5-0D817D6EA7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45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2D7CF5-9845-4F7D-8AF3-5870CA6773DF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BEA2C995-5C62-4ADA-A468-AF7C12DEE8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2422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27390B-F9DF-4714-99DA-133ABC7CE139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0225A024-CF28-4931-AD49-E680D682AE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378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87D917-211A-4FA1-B3D0-EA47E4F2589E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533F3E60-7AF7-4287-8D36-A72C650941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9023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505E6D-332D-491E-963E-91A7F67055D2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DFA9F3A5-0BBE-413B-A02B-4105204AC6D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E0DAB3-E7D5-47F0-8C07-4357514CA871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35F8C3-B8FA-4A3B-A466-2EAF2AFDF81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26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795961-833A-41D5-AEA8-1D92B4315D21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A8BD4D-D16C-40C6-BC89-CE798598D7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13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EFBEB4C-1284-44E1-A3DA-0D54A3035994}" type="datetimeFigureOut">
              <a:rPr lang="en-US" smtClean="0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3A07BFE0-57B9-42CA-B464-0B5C66DD5C5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7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../../krushilbhai_project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ubtitle 2"/>
          <p:cNvSpPr>
            <a:spLocks noGrp="1"/>
          </p:cNvSpPr>
          <p:nvPr>
            <p:ph type="subTitle" idx="1"/>
          </p:nvPr>
        </p:nvSpPr>
        <p:spPr>
          <a:xfrm>
            <a:off x="152400" y="6172200"/>
            <a:ext cx="6400800" cy="533400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</a:rPr>
              <a:t>mongodb.org</a:t>
            </a:r>
          </a:p>
        </p:txBody>
      </p:sp>
      <p:pic>
        <p:nvPicPr>
          <p:cNvPr id="1945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0" y="2057400"/>
            <a:ext cx="5119688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TextBox 7"/>
          <p:cNvSpPr txBox="1">
            <a:spLocks noChangeArrowheads="1"/>
          </p:cNvSpPr>
          <p:nvPr/>
        </p:nvSpPr>
        <p:spPr bwMode="auto">
          <a:xfrm>
            <a:off x="201613" y="5002213"/>
            <a:ext cx="88201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dirty="0"/>
              <a:t>Krunal Nandola and Siraj Dal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</a:t>
            </a: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>
          <a:xfrm>
            <a:off x="1828800" y="1784978"/>
            <a:ext cx="7239000" cy="3777622"/>
          </a:xfrm>
        </p:spPr>
        <p:txBody>
          <a:bodyPr>
            <a:normAutofit/>
          </a:bodyPr>
          <a:lstStyle/>
          <a:p>
            <a:r>
              <a:rPr lang="en-US" sz="2400" dirty="0"/>
              <a:t>Part 1: Introduction</a:t>
            </a:r>
          </a:p>
          <a:p>
            <a:r>
              <a:rPr lang="en-US" sz="2400" dirty="0"/>
              <a:t>Part 2: Connection String</a:t>
            </a:r>
          </a:p>
          <a:p>
            <a:r>
              <a:rPr lang="en-US" sz="2400" dirty="0"/>
              <a:t>Part 3: How to create DB and Table</a:t>
            </a:r>
          </a:p>
          <a:p>
            <a:r>
              <a:rPr lang="en-US" sz="2400" dirty="0"/>
              <a:t>Part 4: Fetch, Select, Insert, Update queries</a:t>
            </a:r>
          </a:p>
          <a:p>
            <a:r>
              <a:rPr lang="en-US" sz="2400" dirty="0"/>
              <a:t>Part 5: Create Duplicate Table</a:t>
            </a:r>
          </a:p>
          <a:p>
            <a:r>
              <a:rPr lang="en-US" sz="2400" dirty="0"/>
              <a:t>Part 6: Data Import</a:t>
            </a:r>
          </a:p>
          <a:p>
            <a:r>
              <a:rPr lang="en-US" sz="2400" dirty="0"/>
              <a:t>Part 7: Mongo Shell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>
          <a:xfrm>
            <a:off x="2286001" y="3048000"/>
            <a:ext cx="3429000" cy="7620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Introduction</a:t>
            </a:r>
            <a:br>
              <a:rPr lang="en-US" sz="4400" dirty="0"/>
            </a:br>
            <a:br>
              <a:rPr lang="en-US" sz="4400" dirty="0"/>
            </a:b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</a:t>
            </a:r>
            <a:r>
              <a:rPr lang="en-US" dirty="0" err="1"/>
              <a:t>mongoDB</a:t>
            </a:r>
            <a:endParaRPr lang="en-US" dirty="0"/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/>
        <p:txBody>
          <a:bodyPr rtlCol="0">
            <a:normAutofit fontScale="70000" lnSpcReduction="20000"/>
          </a:bodyPr>
          <a:lstStyle/>
          <a:p>
            <a:pPr marL="114300" indent="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install mongo DB, go to this link and click on the appropriate OS and architecture: </a:t>
            </a:r>
          </a:p>
          <a:p>
            <a:pPr marL="114300" indent="0" fontAlgn="auto">
              <a:spcAft>
                <a:spcPts val="0"/>
              </a:spcAft>
              <a:buFont typeface="Wingdings 3" charset="2"/>
              <a:buNone/>
              <a:defRPr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14300" indent="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2400" dirty="0">
                <a:solidFill>
                  <a:srgbClr val="00B0F0"/>
                </a:solidFill>
              </a:rPr>
              <a:t>https://fastdl.mongodb.org/windows/mongodb-windows-x86_64-6.0.3-signed.msi</a:t>
            </a:r>
          </a:p>
          <a:p>
            <a:pPr marL="114300" indent="0" fontAlgn="auto">
              <a:spcAft>
                <a:spcPts val="0"/>
              </a:spcAft>
              <a:buFont typeface="Wingdings 3" charset="2"/>
              <a:buNone/>
              <a:defRPr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14300" indent="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First, extract the files (preferably to the C drive).</a:t>
            </a:r>
          </a:p>
          <a:p>
            <a:pPr marL="114300" indent="0" fontAlgn="auto">
              <a:spcAft>
                <a:spcPts val="0"/>
              </a:spcAft>
              <a:buFont typeface="Wingdings 3" charset="2"/>
              <a:buNone/>
              <a:defRPr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14300" indent="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Finally, create a data directory on C:\ for mongo DB to use</a:t>
            </a:r>
          </a:p>
          <a:p>
            <a:pPr marL="411480" lvl="1" indent="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i.e. “md data” followed by “md data\db”</a:t>
            </a:r>
          </a:p>
          <a:p>
            <a:pPr marL="457200" lvl="1" indent="0" fontAlgn="auto">
              <a:spcAft>
                <a:spcPts val="0"/>
              </a:spcAft>
              <a:buFont typeface="Wingdings 3" charset="2"/>
              <a:buNone/>
              <a:defRPr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lvl="1" indent="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http://docs.mongodb.org/manual/tutorial/install-mongodb-on-windows/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</a:t>
            </a:r>
            <a:r>
              <a:rPr lang="en-US" dirty="0" err="1"/>
              <a:t>mongoDB</a:t>
            </a:r>
            <a:endParaRPr lang="en-US" dirty="0"/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77500" lnSpcReduction="20000"/>
          </a:bodyPr>
          <a:lstStyle/>
          <a:p>
            <a:pPr marL="114300" indent="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 your mongo db/bin directory and run mongod.exe to start the database server.</a:t>
            </a:r>
          </a:p>
          <a:p>
            <a:pPr marL="114300" indent="0" fontAlgn="auto">
              <a:spcAft>
                <a:spcPts val="0"/>
              </a:spcAft>
              <a:buFont typeface="Wingdings 3" charset="2"/>
              <a:buNone/>
              <a:defRPr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14300" indent="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establish a connection to the server, open another command prompt window and go to the same directory, entering in mongo.exe. This engages the mongo db shell—it’s that easy!</a:t>
            </a:r>
          </a:p>
          <a:p>
            <a:pPr marL="0" indent="0" fontAlgn="auto">
              <a:spcAft>
                <a:spcPts val="0"/>
              </a:spcAft>
              <a:buFont typeface="Wingdings 3" charset="2"/>
              <a:buNone/>
              <a:defRPr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fontAlgn="auto">
              <a:spcAft>
                <a:spcPts val="0"/>
              </a:spcAft>
              <a:buFont typeface="Wingdings 3" charset="2"/>
              <a:buNone/>
              <a:defRPr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fontAlgn="auto">
              <a:spcAft>
                <a:spcPts val="0"/>
              </a:spcAft>
              <a:buFont typeface="Wingdings 3" charset="2"/>
              <a:buNone/>
              <a:defRPr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fontAlgn="auto">
              <a:spcAft>
                <a:spcPts val="0"/>
              </a:spcAft>
              <a:buFont typeface="Wingdings 3" charset="2"/>
              <a:buNone/>
              <a:defRPr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http://docs.mongodb.org/manual/tutorial/getting-started/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>
          <a:xfrm>
            <a:off x="1981200" y="3200400"/>
            <a:ext cx="4953000" cy="9144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Connecting String</a:t>
            </a: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654310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71BAC-4688-2BF6-980F-25DA034A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4074599" cy="67129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Connection String</a:t>
            </a:r>
            <a:endParaRPr lang="en-IN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7D7ED94-4E30-78E9-D133-61F744354EFE}"/>
              </a:ext>
            </a:extLst>
          </p:cNvPr>
          <p:cNvSpPr txBox="1">
            <a:spLocks/>
          </p:cNvSpPr>
          <p:nvPr/>
        </p:nvSpPr>
        <p:spPr>
          <a:xfrm>
            <a:off x="609600" y="1676400"/>
            <a:ext cx="7620000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Please refer below link for connection in Mongo DB </a:t>
            </a:r>
          </a:p>
        </p:txBody>
      </p:sp>
      <p:sp>
        <p:nvSpPr>
          <p:cNvPr id="17" name="Title 1">
            <a:hlinkClick r:id="rId2" action="ppaction://hlinkfile"/>
            <a:extLst>
              <a:ext uri="{FF2B5EF4-FFF2-40B4-BE49-F238E27FC236}">
                <a16:creationId xmlns:a16="http://schemas.microsoft.com/office/drawing/2014/main" id="{9BBB89F1-75C8-743D-54C8-9BEF3F033932}"/>
              </a:ext>
            </a:extLst>
          </p:cNvPr>
          <p:cNvSpPr txBox="1">
            <a:spLocks/>
          </p:cNvSpPr>
          <p:nvPr/>
        </p:nvSpPr>
        <p:spPr>
          <a:xfrm>
            <a:off x="2133600" y="2819400"/>
            <a:ext cx="5410200" cy="41709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500" dirty="0">
                <a:solidFill>
                  <a:schemeClr val="tx1"/>
                </a:solidFill>
                <a:highlight>
                  <a:srgbClr val="000000"/>
                </a:highlight>
                <a:hlinkClick r:id="rId2" action="ppaction://hlinkfile"/>
              </a:rPr>
              <a:t>D:\Siraj\All_tasks\website scraping\</a:t>
            </a:r>
            <a:r>
              <a:rPr lang="en-US" sz="1500" dirty="0" err="1">
                <a:solidFill>
                  <a:schemeClr val="tx1"/>
                </a:solidFill>
                <a:highlight>
                  <a:srgbClr val="000000"/>
                </a:highlight>
                <a:hlinkClick r:id="rId2" action="ppaction://hlinkfile"/>
              </a:rPr>
              <a:t>krushilbhai_projects</a:t>
            </a:r>
            <a:endParaRPr lang="en-US" sz="1500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61D4AF6-88D4-B94A-CF9C-6204A0AF2F3B}"/>
              </a:ext>
            </a:extLst>
          </p:cNvPr>
          <p:cNvSpPr txBox="1">
            <a:spLocks/>
          </p:cNvSpPr>
          <p:nvPr/>
        </p:nvSpPr>
        <p:spPr>
          <a:xfrm>
            <a:off x="1600200" y="3631031"/>
            <a:ext cx="7315200" cy="16763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</a:rPr>
              <a:t>client = pymongo.MongoClient("mongodb://localhost:27017")</a:t>
            </a:r>
          </a:p>
          <a:p>
            <a:r>
              <a:rPr lang="en-US" sz="1800" dirty="0">
                <a:solidFill>
                  <a:schemeClr val="tx1"/>
                </a:solidFill>
              </a:rPr>
              <a:t>print(client)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db = client[“database_name"]</a:t>
            </a:r>
          </a:p>
          <a:p>
            <a:r>
              <a:rPr lang="en-US" sz="1800" dirty="0">
                <a:solidFill>
                  <a:schemeClr val="tx1"/>
                </a:solidFill>
              </a:rPr>
              <a:t>collection = db[“Table_name"].create_index(‘self’)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2FCD85-2BA9-A57A-5189-B8109B06DC23}"/>
              </a:ext>
            </a:extLst>
          </p:cNvPr>
          <p:cNvSpPr txBox="1">
            <a:spLocks/>
          </p:cNvSpPr>
          <p:nvPr/>
        </p:nvSpPr>
        <p:spPr>
          <a:xfrm>
            <a:off x="1371600" y="5701966"/>
            <a:ext cx="7315200" cy="46070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1800" dirty="0">
                <a:solidFill>
                  <a:schemeClr val="tx1"/>
                </a:solidFill>
              </a:rPr>
              <a:t>* Note: db’s are not actually created until you insert data!</a:t>
            </a:r>
          </a:p>
        </p:txBody>
      </p:sp>
    </p:spTree>
    <p:extLst>
      <p:ext uri="{BB962C8B-B14F-4D97-AF65-F5344CB8AC3E}">
        <p14:creationId xmlns:p14="http://schemas.microsoft.com/office/powerpoint/2010/main" val="1795091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>
          <a:xfrm>
            <a:off x="2057400" y="2971800"/>
            <a:ext cx="6172200" cy="2057400"/>
          </a:xfrm>
        </p:spPr>
        <p:txBody>
          <a:bodyPr>
            <a:normAutofit/>
          </a:bodyPr>
          <a:lstStyle/>
          <a:p>
            <a:r>
              <a:rPr lang="en-US" sz="4400" dirty="0"/>
              <a:t>Fetch, Select, Insert, Update</a:t>
            </a:r>
          </a:p>
        </p:txBody>
      </p:sp>
    </p:spTree>
    <p:extLst>
      <p:ext uri="{BB962C8B-B14F-4D97-AF65-F5344CB8AC3E}">
        <p14:creationId xmlns:p14="http://schemas.microsoft.com/office/powerpoint/2010/main" val="1349769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2779199" cy="74749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Fetch/Select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EC9E77-FE9E-CB57-DE2E-43BCF817EA9B}"/>
              </a:ext>
            </a:extLst>
          </p:cNvPr>
          <p:cNvSpPr txBox="1">
            <a:spLocks/>
          </p:cNvSpPr>
          <p:nvPr/>
        </p:nvSpPr>
        <p:spPr>
          <a:xfrm>
            <a:off x="1945201" y="1905000"/>
            <a:ext cx="6589199" cy="3733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500" b="0" i="0" dirty="0">
                <a:solidFill>
                  <a:schemeClr val="tx1"/>
                </a:solidFill>
                <a:latin typeface="JetBrains Mono"/>
              </a:rPr>
              <a:t>#Fetch One Data From Mongo DB</a:t>
            </a:r>
            <a:br>
              <a:rPr lang="en-IN" sz="2500" b="0" i="0" dirty="0">
                <a:solidFill>
                  <a:schemeClr val="tx1"/>
                </a:solidFill>
                <a:latin typeface="JetBrains Mono"/>
              </a:rPr>
            </a:br>
            <a:r>
              <a:rPr lang="en-IN" sz="2500" b="0" i="0" dirty="0">
                <a:solidFill>
                  <a:schemeClr val="tx1"/>
                </a:solidFill>
                <a:latin typeface="JetBrains Mono"/>
              </a:rPr>
              <a:t>one = collection.find_one({'name’: 'XYZ'})</a:t>
            </a:r>
            <a:br>
              <a:rPr lang="en-IN" sz="2500" b="0" i="0" dirty="0">
                <a:solidFill>
                  <a:schemeClr val="tx1"/>
                </a:solidFill>
                <a:latin typeface="JetBrains Mono"/>
              </a:rPr>
            </a:br>
            <a:r>
              <a:rPr lang="en-IN" sz="2500" b="0" i="0" dirty="0">
                <a:solidFill>
                  <a:schemeClr val="tx1"/>
                </a:solidFill>
                <a:latin typeface="JetBrains Mono"/>
              </a:rPr>
              <a:t>print(one)</a:t>
            </a:r>
            <a:br>
              <a:rPr lang="en-IN" sz="2500" b="0" i="0" dirty="0">
                <a:solidFill>
                  <a:schemeClr val="tx1"/>
                </a:solidFill>
                <a:latin typeface="JetBrains Mono"/>
              </a:rPr>
            </a:br>
            <a:br>
              <a:rPr lang="en-IN" sz="2500" b="0" i="0" dirty="0">
                <a:solidFill>
                  <a:schemeClr val="tx1"/>
                </a:solidFill>
                <a:latin typeface="JetBrains Mono"/>
              </a:rPr>
            </a:br>
            <a:r>
              <a:rPr lang="en-IN" sz="2500" b="0" i="0" dirty="0">
                <a:solidFill>
                  <a:schemeClr val="tx1"/>
                </a:solidFill>
                <a:latin typeface="JetBrains Mono"/>
              </a:rPr>
              <a:t>#Find All DATA from Mongo DB Document</a:t>
            </a:r>
            <a:br>
              <a:rPr lang="en-IN" sz="2500" b="0" i="0" dirty="0">
                <a:solidFill>
                  <a:schemeClr val="tx1"/>
                </a:solidFill>
                <a:latin typeface="JetBrains Mono"/>
              </a:rPr>
            </a:br>
            <a:r>
              <a:rPr lang="en-IN" sz="2500" b="0" i="0" dirty="0">
                <a:solidFill>
                  <a:schemeClr val="tx1"/>
                </a:solidFill>
                <a:latin typeface="JetBrains Mono"/>
              </a:rPr>
              <a:t>alldocs = collection.find({'Location’: 'Chennai’})</a:t>
            </a:r>
          </a:p>
          <a:p>
            <a:br>
              <a:rPr lang="en-IN" sz="2500" b="0" i="0" dirty="0">
                <a:solidFill>
                  <a:schemeClr val="tx1"/>
                </a:solidFill>
                <a:latin typeface="JetBrains Mono"/>
              </a:rPr>
            </a:br>
            <a:r>
              <a:rPr lang="en-IN" sz="2500" b="0" i="0" dirty="0">
                <a:solidFill>
                  <a:schemeClr val="tx1"/>
                </a:solidFill>
                <a:latin typeface="JetBrains Mono"/>
              </a:rPr>
              <a:t>for item in alldocs:</a:t>
            </a:r>
            <a:br>
              <a:rPr lang="en-IN" sz="2500" b="0" i="0" dirty="0">
                <a:solidFill>
                  <a:schemeClr val="tx1"/>
                </a:solidFill>
                <a:latin typeface="JetBrains Mono"/>
              </a:rPr>
            </a:br>
            <a:r>
              <a:rPr lang="en-IN" sz="2500" b="0" i="0" dirty="0">
                <a:solidFill>
                  <a:schemeClr val="tx1"/>
                </a:solidFill>
                <a:latin typeface="JetBrains Mono"/>
              </a:rPr>
              <a:t>    print(item)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904999" y="4343400"/>
            <a:ext cx="6400800" cy="12192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>
              <a:buFont typeface="Arial" charset="0"/>
              <a:buNone/>
            </a:pPr>
            <a:r>
              <a:rPr lang="en-US" sz="1800" dirty="0">
                <a:solidFill>
                  <a:schemeClr val="tx1"/>
                </a:solidFill>
              </a:rPr>
              <a:t>     INSERT INTO &lt;table&gt; VALUES(&lt;</a:t>
            </a:r>
            <a:r>
              <a:rPr lang="en-US" sz="1800" dirty="0" err="1">
                <a:solidFill>
                  <a:schemeClr val="tx1"/>
                </a:solidFill>
              </a:rPr>
              <a:t>attributevalues</a:t>
            </a:r>
            <a:r>
              <a:rPr lang="en-US" sz="1800" dirty="0">
                <a:solidFill>
                  <a:schemeClr val="tx1"/>
                </a:solidFill>
              </a:rPr>
              <a:t>&gt;);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05000" y="3352800"/>
            <a:ext cx="6400800" cy="6858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500" dirty="0">
                <a:solidFill>
                  <a:schemeClr val="tx1"/>
                </a:solidFill>
              </a:rPr>
              <a:t>db.&lt;collection&gt;.insert(&lt;document&gt;)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1407599" cy="67129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Insert</a:t>
            </a:r>
          </a:p>
        </p:txBody>
      </p:sp>
      <p:sp>
        <p:nvSpPr>
          <p:cNvPr id="43012" name="Content Placeholder 2"/>
          <p:cNvSpPr>
            <a:spLocks noGrp="1"/>
          </p:cNvSpPr>
          <p:nvPr>
            <p:ph idx="1"/>
          </p:nvPr>
        </p:nvSpPr>
        <p:spPr>
          <a:xfrm>
            <a:off x="1219201" y="1676400"/>
            <a:ext cx="7086599" cy="838200"/>
          </a:xfrm>
        </p:spPr>
        <p:txBody>
          <a:bodyPr>
            <a:normAutofit/>
          </a:bodyPr>
          <a:lstStyle/>
          <a:p>
            <a:pPr marL="0" indent="0">
              <a:buFont typeface="Arial" charset="0"/>
              <a:buNone/>
            </a:pPr>
            <a:r>
              <a:rPr lang="en-US" sz="2400" dirty="0"/>
              <a:t>To insert documents into a collection/make a new collection:</a:t>
            </a:r>
          </a:p>
          <a:p>
            <a:pPr marL="0" indent="0">
              <a:buFont typeface="Arial" charset="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1447801" y="1631950"/>
            <a:ext cx="2590800" cy="457200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dirty="0">
                <a:solidFill>
                  <a:schemeClr val="tx1"/>
                </a:solidFill>
              </a:rPr>
              <a:t>Insert one document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62200" y="2371725"/>
            <a:ext cx="4896900" cy="4572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>
                <a:solidFill>
                  <a:schemeClr val="tx1"/>
                </a:solidFill>
              </a:rPr>
              <a:t>db.&lt;collection&gt;.insert({&lt;field&gt;:&lt;value&gt;})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3312599" cy="74749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Inserting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67A84-9448-E25D-F033-4224CF506CCF}"/>
              </a:ext>
            </a:extLst>
          </p:cNvPr>
          <p:cNvSpPr txBox="1">
            <a:spLocks/>
          </p:cNvSpPr>
          <p:nvPr/>
        </p:nvSpPr>
        <p:spPr>
          <a:xfrm>
            <a:off x="1761331" y="3457575"/>
            <a:ext cx="6781800" cy="1171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>
                <a:solidFill>
                  <a:schemeClr val="tx1"/>
                </a:solidFill>
              </a:rPr>
              <a:t>Inserting a document with a field name new to the collection is inherently supported by the BSON model.</a:t>
            </a:r>
          </a:p>
          <a:p>
            <a:pPr marL="0" indent="0">
              <a:buFont typeface="Arial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613A24-844C-E8AE-CED1-92CFE022F38D}"/>
              </a:ext>
            </a:extLst>
          </p:cNvPr>
          <p:cNvSpPr txBox="1">
            <a:spLocks/>
          </p:cNvSpPr>
          <p:nvPr/>
        </p:nvSpPr>
        <p:spPr>
          <a:xfrm>
            <a:off x="1828800" y="4629150"/>
            <a:ext cx="7019132" cy="890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400" dirty="0">
                <a:solidFill>
                  <a:schemeClr val="tx1"/>
                </a:solidFill>
              </a:rPr>
              <a:t>To insert multiple documents, use an array and also use .insert_many</a:t>
            </a:r>
          </a:p>
          <a:p>
            <a:pPr marL="0" indent="0">
              <a:buFont typeface="Arial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762000" y="5043710"/>
            <a:ext cx="8153400" cy="74749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1800" dirty="0">
                <a:solidFill>
                  <a:schemeClr val="tx1"/>
                </a:solidFill>
              </a:rPr>
              <a:t>UPDATE &lt;table&gt; SET &lt;field2&gt; = &lt;value2&gt; WHERE &lt;field1&gt; = &lt;value1&gt;;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721755"/>
            <a:ext cx="6096000" cy="181429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db.&lt;collection&gt;.update({&lt;field1&gt;:&lt;value1&gt;},</a:t>
            </a:r>
          </a:p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//all docs in which field = value{$set: {&lt;field2&gt;:&lt;value2&gt;}},</a:t>
            </a:r>
          </a:p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//set field to value{multi:true} )</a:t>
            </a:r>
          </a:p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//update multiple docs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4749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Update</a:t>
            </a:r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>
          <a:xfrm>
            <a:off x="1676400" y="3953320"/>
            <a:ext cx="7467600" cy="819150"/>
          </a:xfrm>
        </p:spPr>
        <p:txBody>
          <a:bodyPr rtlCol="0">
            <a:normAutofit lnSpcReduction="10000"/>
          </a:bodyPr>
          <a:lstStyle/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solidFill>
                  <a:schemeClr val="tx1"/>
                </a:solidFill>
              </a:rPr>
              <a:t>upsert: if true, creates a new doc when none matches search criteria.</a:t>
            </a:r>
          </a:p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863600" y="3962400"/>
            <a:ext cx="7899400" cy="5334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db.&lt;collection&gt;.update({&lt;field&gt;:&lt;value&gt;}, { &lt;field&gt;:&lt;value&gt;, &lt;field&gt;:&lt;value&gt;})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96999" y="2209800"/>
            <a:ext cx="7366001" cy="5334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1800" dirty="0">
                <a:solidFill>
                  <a:schemeClr val="tx1"/>
                </a:solidFill>
              </a:rPr>
              <a:t>db.&lt;collection&gt;.update({&lt;field&gt;:&lt;value&gt;},{ $unset: { &lt;field&gt;: 1}})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4150799" cy="70304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Updating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3624D62-818F-1DCA-0578-251E5F5F478D}"/>
              </a:ext>
            </a:extLst>
          </p:cNvPr>
          <p:cNvSpPr txBox="1">
            <a:spLocks/>
          </p:cNvSpPr>
          <p:nvPr/>
        </p:nvSpPr>
        <p:spPr>
          <a:xfrm>
            <a:off x="947738" y="1631950"/>
            <a:ext cx="2474399" cy="4254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2000" dirty="0">
                <a:solidFill>
                  <a:schemeClr val="tx1"/>
                </a:solidFill>
              </a:rPr>
              <a:t>To remove a field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E634F68-DE87-D0F7-CFF6-6606AD2A92B0}"/>
              </a:ext>
            </a:extLst>
          </p:cNvPr>
          <p:cNvSpPr txBox="1">
            <a:spLocks/>
          </p:cNvSpPr>
          <p:nvPr/>
        </p:nvSpPr>
        <p:spPr>
          <a:xfrm>
            <a:off x="947738" y="3200400"/>
            <a:ext cx="3776662" cy="4254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2000" dirty="0">
                <a:solidFill>
                  <a:schemeClr val="tx1"/>
                </a:solidFill>
              </a:rPr>
              <a:t>Replace all field-value pairs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C96020-CB91-C232-484A-6B73EAE8EAB5}"/>
              </a:ext>
            </a:extLst>
          </p:cNvPr>
          <p:cNvSpPr txBox="1">
            <a:spLocks/>
          </p:cNvSpPr>
          <p:nvPr/>
        </p:nvSpPr>
        <p:spPr>
          <a:xfrm>
            <a:off x="990600" y="4902200"/>
            <a:ext cx="7899400" cy="736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2000" dirty="0">
                <a:solidFill>
                  <a:schemeClr val="tx1"/>
                </a:solidFill>
              </a:rPr>
              <a:t>*NOTE: This overwrites ALL the contents of a document, even removing fields.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24000" y="5685731"/>
            <a:ext cx="6781800" cy="51888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>
                <a:solidFill>
                  <a:schemeClr val="tx1"/>
                </a:solidFill>
              </a:rPr>
              <a:t>db.&lt;collection&gt;.remove({&lt;field&gt;:&lt;value&gt;}, true)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43001" y="3574759"/>
            <a:ext cx="5526602" cy="701452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1800" dirty="0">
                <a:solidFill>
                  <a:schemeClr val="tx1"/>
                </a:solidFill>
              </a:rPr>
              <a:t>DELETE FROM &lt;table&gt;WHERE &lt;field&gt; = &lt;value&gt;;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476499" y="2530227"/>
            <a:ext cx="5526601" cy="5334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>
                <a:solidFill>
                  <a:schemeClr val="tx1"/>
                </a:solidFill>
              </a:rPr>
              <a:t>db.&lt;collection&gt;.remove({&lt;field&gt;:&lt;value&gt;})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67129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Removal / Delete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9AECF7-D4CA-796C-9480-BEB7454100AC}"/>
              </a:ext>
            </a:extLst>
          </p:cNvPr>
          <p:cNvSpPr txBox="1">
            <a:spLocks/>
          </p:cNvSpPr>
          <p:nvPr/>
        </p:nvSpPr>
        <p:spPr>
          <a:xfrm>
            <a:off x="1143001" y="1716173"/>
            <a:ext cx="5029200" cy="4655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2000" dirty="0">
                <a:solidFill>
                  <a:schemeClr val="tx1"/>
                </a:solidFill>
              </a:rPr>
              <a:t>Remove all records where field = value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7EBAA4-6107-30A7-751C-E97588ADE7D7}"/>
              </a:ext>
            </a:extLst>
          </p:cNvPr>
          <p:cNvSpPr txBox="1">
            <a:spLocks/>
          </p:cNvSpPr>
          <p:nvPr/>
        </p:nvSpPr>
        <p:spPr>
          <a:xfrm>
            <a:off x="2209800" y="4724400"/>
            <a:ext cx="5410199" cy="46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2000" dirty="0">
                <a:solidFill>
                  <a:schemeClr val="tx1"/>
                </a:solidFill>
              </a:rPr>
              <a:t>As above, but only remove first document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4912799" cy="74749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Using the Shell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B1AC49-A88F-0771-1162-3517A7B385B3}"/>
              </a:ext>
            </a:extLst>
          </p:cNvPr>
          <p:cNvSpPr txBox="1">
            <a:spLocks/>
          </p:cNvSpPr>
          <p:nvPr/>
        </p:nvSpPr>
        <p:spPr>
          <a:xfrm>
            <a:off x="990600" y="1912255"/>
            <a:ext cx="4114800" cy="442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check which db you’re using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AFFB71-48D9-F2DD-DDDE-47FBE288AC60}"/>
              </a:ext>
            </a:extLst>
          </p:cNvPr>
          <p:cNvSpPr txBox="1">
            <a:spLocks/>
          </p:cNvSpPr>
          <p:nvPr/>
        </p:nvSpPr>
        <p:spPr>
          <a:xfrm>
            <a:off x="5791200" y="1912255"/>
            <a:ext cx="685800" cy="442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3EBDDD0-C0DD-6B89-8D08-8BD55883EE12}"/>
              </a:ext>
            </a:extLst>
          </p:cNvPr>
          <p:cNvSpPr txBox="1">
            <a:spLocks/>
          </p:cNvSpPr>
          <p:nvPr/>
        </p:nvSpPr>
        <p:spPr>
          <a:xfrm>
            <a:off x="990600" y="2445655"/>
            <a:ext cx="2590800" cy="442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Show all databases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C5639F-7E3F-C887-6BE5-E976F969E753}"/>
              </a:ext>
            </a:extLst>
          </p:cNvPr>
          <p:cNvSpPr txBox="1">
            <a:spLocks/>
          </p:cNvSpPr>
          <p:nvPr/>
        </p:nvSpPr>
        <p:spPr>
          <a:xfrm>
            <a:off x="5791200" y="2445655"/>
            <a:ext cx="1371600" cy="442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show dbs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F9B1182-9DEB-78D6-5E24-E4981303D5D8}"/>
              </a:ext>
            </a:extLst>
          </p:cNvPr>
          <p:cNvSpPr txBox="1">
            <a:spLocks/>
          </p:cNvSpPr>
          <p:nvPr/>
        </p:nvSpPr>
        <p:spPr>
          <a:xfrm>
            <a:off x="990600" y="2979055"/>
            <a:ext cx="3810000" cy="442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Switch db’s/make a new one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7BBEA6-076A-E067-5AE4-18590DFEDD1F}"/>
              </a:ext>
            </a:extLst>
          </p:cNvPr>
          <p:cNvSpPr txBox="1">
            <a:spLocks/>
          </p:cNvSpPr>
          <p:nvPr/>
        </p:nvSpPr>
        <p:spPr>
          <a:xfrm>
            <a:off x="5791200" y="2979055"/>
            <a:ext cx="1828800" cy="442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&lt;name&gt;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DC57374-1596-B94C-BACC-C93F8E2F2EF5}"/>
              </a:ext>
            </a:extLst>
          </p:cNvPr>
          <p:cNvSpPr txBox="1">
            <a:spLocks/>
          </p:cNvSpPr>
          <p:nvPr/>
        </p:nvSpPr>
        <p:spPr>
          <a:xfrm>
            <a:off x="990600" y="3519710"/>
            <a:ext cx="3352800" cy="442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Drop Database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494A104-4E6F-1070-BFF1-24DDEB2AAD11}"/>
              </a:ext>
            </a:extLst>
          </p:cNvPr>
          <p:cNvSpPr txBox="1">
            <a:spLocks/>
          </p:cNvSpPr>
          <p:nvPr/>
        </p:nvSpPr>
        <p:spPr>
          <a:xfrm>
            <a:off x="5791200" y="3598180"/>
            <a:ext cx="2667000" cy="442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db.dropDatabase()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0DBACC0-8237-942D-6014-AF315756D225}"/>
              </a:ext>
            </a:extLst>
          </p:cNvPr>
          <p:cNvSpPr txBox="1">
            <a:spLocks/>
          </p:cNvSpPr>
          <p:nvPr/>
        </p:nvSpPr>
        <p:spPr>
          <a:xfrm>
            <a:off x="1371600" y="6012545"/>
            <a:ext cx="7315200" cy="442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fontAlgn="auto">
              <a:spcAft>
                <a:spcPts val="0"/>
              </a:spcAft>
              <a:buFont typeface="Arial" charset="0"/>
              <a:buNone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 Note: db’s are not actually created until you insert data!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8B590E1-2DEA-E557-5A4C-589BBB7C6F25}"/>
              </a:ext>
            </a:extLst>
          </p:cNvPr>
          <p:cNvSpPr txBox="1">
            <a:spLocks/>
          </p:cNvSpPr>
          <p:nvPr/>
        </p:nvSpPr>
        <p:spPr>
          <a:xfrm>
            <a:off x="1066800" y="4357910"/>
            <a:ext cx="2514600" cy="442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Collection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D1F0158-E245-10CB-08EE-3184B9CD03AA}"/>
              </a:ext>
            </a:extLst>
          </p:cNvPr>
          <p:cNvSpPr txBox="1">
            <a:spLocks/>
          </p:cNvSpPr>
          <p:nvPr/>
        </p:nvSpPr>
        <p:spPr>
          <a:xfrm>
            <a:off x="5791200" y="4175523"/>
            <a:ext cx="2743200" cy="7629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db.createCollection(‘collection_name’)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0A3ECFF-3BCC-CCDF-9D18-460D8057C1EC}"/>
              </a:ext>
            </a:extLst>
          </p:cNvPr>
          <p:cNvSpPr txBox="1">
            <a:spLocks/>
          </p:cNvSpPr>
          <p:nvPr/>
        </p:nvSpPr>
        <p:spPr>
          <a:xfrm>
            <a:off x="990600" y="5117640"/>
            <a:ext cx="3352800" cy="442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See what collections exist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97FC3C9-6497-07C6-912B-796C1942E7C3}"/>
              </a:ext>
            </a:extLst>
          </p:cNvPr>
          <p:cNvSpPr txBox="1">
            <a:spLocks/>
          </p:cNvSpPr>
          <p:nvPr/>
        </p:nvSpPr>
        <p:spPr>
          <a:xfrm>
            <a:off x="5791200" y="5105400"/>
            <a:ext cx="2209800" cy="442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show collections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itle 1"/>
          <p:cNvSpPr>
            <a:spLocks noGrp="1"/>
          </p:cNvSpPr>
          <p:nvPr>
            <p:ph type="title"/>
          </p:nvPr>
        </p:nvSpPr>
        <p:spPr>
          <a:xfrm>
            <a:off x="2514600" y="2514600"/>
            <a:ext cx="5486400" cy="2034382"/>
          </a:xfrm>
        </p:spPr>
        <p:txBody>
          <a:bodyPr>
            <a:normAutofit fontScale="90000"/>
          </a:bodyPr>
          <a:lstStyle/>
          <a:p>
            <a:r>
              <a:rPr lang="en-US" sz="13800" dirty="0"/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1829</TotalTime>
  <Words>705</Words>
  <Application>Microsoft Office PowerPoint</Application>
  <PresentationFormat>On-screen Show (4:3)</PresentationFormat>
  <Paragraphs>88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Gothic</vt:lpstr>
      <vt:lpstr>JetBrains Mono</vt:lpstr>
      <vt:lpstr>Wingdings 3</vt:lpstr>
      <vt:lpstr>Wisp</vt:lpstr>
      <vt:lpstr>PowerPoint Presentation</vt:lpstr>
      <vt:lpstr>Content</vt:lpstr>
      <vt:lpstr>Introduction  </vt:lpstr>
      <vt:lpstr>Getting Started with mongoDB</vt:lpstr>
      <vt:lpstr>Getting Started with mongoDB</vt:lpstr>
      <vt:lpstr>Connecting String </vt:lpstr>
      <vt:lpstr>Connection String</vt:lpstr>
      <vt:lpstr>Fetch, Select, Insert, Update</vt:lpstr>
      <vt:lpstr>Fetch/Select </vt:lpstr>
      <vt:lpstr>Insert</vt:lpstr>
      <vt:lpstr>Inserting Data</vt:lpstr>
      <vt:lpstr>Update</vt:lpstr>
      <vt:lpstr>Updating</vt:lpstr>
      <vt:lpstr>Removal / Delete</vt:lpstr>
      <vt:lpstr>Using the Shell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Library Public Computer</dc:creator>
  <cp:lastModifiedBy>Admin</cp:lastModifiedBy>
  <cp:revision>60</cp:revision>
  <dcterms:created xsi:type="dcterms:W3CDTF">2014-02-16T22:38:42Z</dcterms:created>
  <dcterms:modified xsi:type="dcterms:W3CDTF">2023-01-18T10:21:21Z</dcterms:modified>
</cp:coreProperties>
</file>